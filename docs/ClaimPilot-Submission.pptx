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46c5363-2559-2015-3285-6bee178455e9}">
          <p14:sldIdLst>
            <p14:sldId id="256"/>
          </p14:sldIdLst>
        </p14:section>
        <p14:section name="Problem" id="{b11676dc-381c-5da7-c66f-2da4f2ec728e}">
          <p14:sldIdLst>
            <p14:sldId id="257"/>
          </p14:sldIdLst>
        </p14:section>
        <p14:section name="Solution" id="{230ea5fa-f24d-94d9-a376-b988a2aa35be}">
          <p14:sldIdLst>
            <p14:sldId id="258"/>
            <p14:sldId id="259"/>
          </p14:sldIdLst>
        </p14:section>
        <p14:section name="Agents" id="{435a8e9f-2763-a2a6-df6e-683b5cb16618}">
          <p14:sldIdLst>
            <p14:sldId id="260"/>
          </p14:sldIdLst>
        </p14:section>
        <p14:section name="Human in the loop" id="{79a6ccc8-9856-9e8d-d7d2-57aae0bff949}">
          <p14:sldIdLst>
            <p14:sldId id="261"/>
            <p14:sldId id="262"/>
          </p14:sldIdLst>
        </p14:section>
        <p14:section name="Product" id="{9e343197-f75e-4c70-2333-f0ec8ccfff71}">
          <p14:sldIdLst>
            <p14:sldId id="263"/>
            <p14:sldId id="264"/>
            <p14:sldId id="265"/>
          </p14:sldIdLst>
        </p14:section>
        <p14:section name="Results" id="{1e8252af-2764-9f67-669b-f62a3a634fa5}">
          <p14:sldIdLst>
            <p14:sldId id="266"/>
          </p14:sldIdLst>
        </p14:section>
        <p14:section name="Novelty" id="{d52a2284-aa66-183c-09a3-0950cbc33e7d}">
          <p14:sldIdLst>
            <p14:sldId id="267"/>
          </p14:sldIdLst>
        </p14:section>
        <p14:section name="Judging" id="{5f243d67-263e-a0bb-47ba-84e541914741}">
          <p14:sldIdLst>
            <p14:sldId id="268"/>
          </p14:sldIdLst>
        </p14:section>
        <p14:section name="Build" id="{d05d6e92-b416-5137-01b5-35ff3dc0b52a}">
          <p14:sldIdLst>
            <p14:sldId id="269"/>
            <p14:sldId id="270"/>
          </p14:sldIdLst>
        </p14:section>
        <p14:section name="Future scope" id="{3154b18d-b727-c162-5493-180101e6931b}">
          <p14:sldIdLst>
            <p14:sldId id="271"/>
          </p14:sldIdLst>
        </p14:section>
        <p14:section name="Close" id="{8156ab19-7067-4224-f2b3-c9afa51aac7d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1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01C"/>
                </a:solidFill>
                <a:latin typeface="+mn-lt"/>
              </a:rPr>
              <a:t>Planted problems caught (of 47)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Planted problems caught</c:v>
                </c:pt>
              </c:strCache>
            </c:strRef>
          </c:tx>
          <c:spPr>
            <a:solidFill>
              <a:srgbClr val="C4D3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D3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1BD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6F5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Basic submission</c:v>
                  </c:pt>
                  <c:pt idx="1">
                    <c:v>Rules checklist</c:v>
                  </c:pt>
                  <c:pt idx="2">
                    <c:v>ClaimPilot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47</c:v>
                </c:pt>
                <c:pt idx="2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4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8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1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01C"/>
                </a:solidFill>
                <a:latin typeface="+mn-lt"/>
              </a:rPr>
              <a:t>Insurer queries received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Insurer queries</c:v>
                </c:pt>
              </c:strCache>
            </c:strRef>
          </c:tx>
          <c:spPr>
            <a:solidFill>
              <a:srgbClr val="C4D3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D3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1BD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6F5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Basic submission</c:v>
                  </c:pt>
                  <c:pt idx="1">
                    <c:v>Rules checklist</c:v>
                  </c:pt>
                  <c:pt idx="2">
                    <c:v>ClaimPilot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4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8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73"/>
                </a:solidFill>
              </a:rPr>
              <a:t>ClaimPilot  ·  AgentOps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01C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3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1A6F50"/>
          </a:solidFill>
          <a:ln w="12700">
            <a:solidFill>
              <a:srgbClr val="1A6F5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7680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2026  ·  MIT Bengaluru × CGI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ClaimPilot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2E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hospital insurance claims, checked before they are sent, with a person approving every step.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Solanki  ·  Janhavi Bhattad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08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github.com/rudra995/claim-pilot</a:t>
            </a:r>
            <a:endParaRPr lang="en-US" sz="1200" dirty="0"/>
          </a:p>
        </p:txBody>
      </p:sp>
      <p:pic>
        <p:nvPicPr>
          <p:cNvPr id="9" name="Image 1" descr="C:\Users\RUDRA\AppData\Local\Temp\claude\D--SDG-AgentOps-claim-pilot\38ba78ea-dfea-47fe-b5a3-d75b848b66fd\scratchpad\deck\shot-d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669280" cy="35433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Hospitals find out a claim is wrong only when the insurer cuts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846320" cy="4434840"/>
          </a:xfrm>
          <a:prstGeom prst="roundRect">
            <a:avLst>
              <a:gd name="adj" fmla="val 2887"/>
            </a:avLst>
          </a:prstGeom>
          <a:solidFill>
            <a:srgbClr val="EBF6F1"/>
          </a:solidFill>
          <a:ln w="6350">
            <a:solidFill>
              <a:srgbClr val="EBF6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PATIENT, ONE ROOM CHOICE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₹47,200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paid by Ramesh, 58, for his knee replacement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took a ₹5,000-a-day room. His policy capped room rent at ₹3,000.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cap, the insurer also cuts doctor, nursing and OT fees in the same ratio.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paid ₹54,200 instead of ₹7,000. Nobody told him at admission.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7880" y="1508760"/>
            <a:ext cx="548640" cy="54864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9554" y="164043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629400" y="1490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18379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bill at discharge, after the choices that drove it are made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0" y="2606040"/>
            <a:ext cx="548640" cy="54864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554" y="27377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29400" y="25877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desk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29352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long policy wordings by hand and chases insurer queries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97880" y="3703320"/>
            <a:ext cx="548640" cy="54864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554" y="38349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29400" y="3685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finance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40325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and denials leak revenue that is rarely recovered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897880" y="4800600"/>
            <a:ext cx="548640" cy="54864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554" y="49322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629400" y="4782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/ TPA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629400" y="51297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claims cause rounds of queries and slow discharges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is a synthetic case. His amounts are computed by ClaimPilot's rules engine from his policy wording (clause 4.2).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ClaimPilot runs the whole claim, from admission to the last rupee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711909" cy="2057400"/>
          </a:xfrm>
          <a:prstGeom prst="roundRect">
            <a:avLst>
              <a:gd name="adj" fmla="val 7478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1860255"/>
            <a:ext cx="266273" cy="2662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1346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Admission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24912"/>
            <a:ext cx="1346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records, code the diagnosis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25141" y="1508760"/>
            <a:ext cx="1711909" cy="2057400"/>
          </a:xfrm>
          <a:prstGeom prst="roundRect">
            <a:avLst>
              <a:gd name="adj" fmla="val 7478"/>
            </a:avLst>
          </a:prstGeom>
          <a:solidFill>
            <a:srgbClr val="1A6F50"/>
          </a:solidFill>
          <a:ln w="6350">
            <a:solidFill>
              <a:srgbClr val="1A6F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53741" y="1737360"/>
            <a:ext cx="512064" cy="512064"/>
          </a:xfrm>
          <a:prstGeom prst="ellipse">
            <a:avLst/>
          </a:prstGeom>
          <a:solidFill>
            <a:srgbClr val="2A8463"/>
          </a:solidFill>
          <a:ln w="12700">
            <a:solidFill>
              <a:srgbClr val="2A846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637" y="1860255"/>
            <a:ext cx="266273" cy="2662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3741" y="2377440"/>
            <a:ext cx="1346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Pre-auth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53741" y="2724912"/>
            <a:ext cx="1346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2E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the stay, check risks, draft the request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01642" y="1508760"/>
            <a:ext cx="1711909" cy="2057400"/>
          </a:xfrm>
          <a:prstGeom prst="roundRect">
            <a:avLst>
              <a:gd name="adj" fmla="val 7478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30242" y="173736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138" y="1860255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30242" y="2377440"/>
            <a:ext cx="1346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Enhancement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530242" y="2724912"/>
            <a:ext cx="1346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more when the bill grows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78144" y="1508760"/>
            <a:ext cx="1711909" cy="2057400"/>
          </a:xfrm>
          <a:prstGeom prst="roundRect">
            <a:avLst>
              <a:gd name="adj" fmla="val 7478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6744" y="173736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639" y="1860255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6744" y="2377440"/>
            <a:ext cx="1346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Discharge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6744" y="2724912"/>
            <a:ext cx="1346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claim with a deduction preview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054645" y="1508760"/>
            <a:ext cx="1711909" cy="2057400"/>
          </a:xfrm>
          <a:prstGeom prst="roundRect">
            <a:avLst>
              <a:gd name="adj" fmla="val 7478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283245" y="173736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140" y="1860255"/>
            <a:ext cx="266273" cy="26627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83245" y="2377440"/>
            <a:ext cx="1346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Appeal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8283245" y="2724912"/>
            <a:ext cx="1346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cuts only when evidence supports it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9931146" y="1508760"/>
            <a:ext cx="1711909" cy="2057400"/>
          </a:xfrm>
          <a:prstGeom prst="roundRect">
            <a:avLst>
              <a:gd name="adj" fmla="val 7478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10159746" y="173736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641" y="1860255"/>
            <a:ext cx="266273" cy="26627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59746" y="2377440"/>
            <a:ext cx="1346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Reconcile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0159746" y="2724912"/>
            <a:ext cx="1346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vs what the policy allows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703" y="4113703"/>
            <a:ext cx="294803" cy="294803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80160" y="4005072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problems before sending</a:t>
            </a:r>
            <a:endParaRPr lang="en-US" sz="1600" dirty="0"/>
          </a:p>
        </p:txBody>
      </p:sp>
      <p:sp>
        <p:nvSpPr>
          <p:cNvPr id="36" name="Text 27"/>
          <p:cNvSpPr txBox="1"/>
          <p:nvPr/>
        </p:nvSpPr>
        <p:spPr>
          <a:xfrm>
            <a:off x="1280160" y="4553712"/>
            <a:ext cx="2738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denial-risk model and document checklist flag missing records, non-payables and room-cap breaches, each with its fix.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4338218" y="3977640"/>
            <a:ext cx="566928" cy="566928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4281" y="4113703"/>
            <a:ext cx="294803" cy="294803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5069738" y="4005072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money, from code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5069738" y="4553712"/>
            <a:ext cx="2738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prices every line against the policy clause by clause. The language model only writes prose.</a:t>
            </a:r>
            <a:endParaRPr lang="en-US" sz="1300" dirty="0"/>
          </a:p>
        </p:txBody>
      </p:sp>
      <p:sp>
        <p:nvSpPr>
          <p:cNvPr id="41" name="Shape 31"/>
          <p:cNvSpPr/>
          <p:nvPr/>
        </p:nvSpPr>
        <p:spPr>
          <a:xfrm>
            <a:off x="8127797" y="3977640"/>
            <a:ext cx="566928" cy="566928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3860" y="4113703"/>
            <a:ext cx="294803" cy="294803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859317" y="4005072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approves every message</a:t>
            </a:r>
            <a:endParaRPr lang="en-US" sz="1600" dirty="0"/>
          </a:p>
        </p:txBody>
      </p:sp>
      <p:sp>
        <p:nvSpPr>
          <p:cNvPr id="44" name="Text 33"/>
          <p:cNvSpPr txBox="1"/>
          <p:nvPr/>
        </p:nvSpPr>
        <p:spPr>
          <a:xfrm>
            <a:off x="8859317" y="4553712"/>
            <a:ext cx="2738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approve, edit or hold back each draft. Nothing reaches the insurer or patient without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Two agent teams that share no code and talk only through messages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57400" cy="566928"/>
          </a:xfrm>
          <a:prstGeom prst="roundRect">
            <a:avLst>
              <a:gd name="adj" fmla="val 16129"/>
            </a:avLst>
          </a:prstGeom>
          <a:solidFill>
            <a:srgbClr val="EBF6F1"/>
          </a:solidFill>
          <a:ln w="9525">
            <a:solidFill>
              <a:srgbClr val="EBF6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63040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officer desk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88920" y="1463040"/>
            <a:ext cx="2057400" cy="566928"/>
          </a:xfrm>
          <a:prstGeom prst="roundRect">
            <a:avLst>
              <a:gd name="adj" fmla="val 16129"/>
            </a:avLst>
          </a:prstGeom>
          <a:solidFill>
            <a:srgbClr val="EBF6F1"/>
          </a:solidFill>
          <a:ln w="9525">
            <a:solidFill>
              <a:srgbClr val="EBF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1463040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2057400" cy="566928"/>
          </a:xfrm>
          <a:prstGeom prst="roundRect">
            <a:avLst>
              <a:gd name="adj" fmla="val 16129"/>
            </a:avLst>
          </a:prstGeom>
          <a:solidFill>
            <a:srgbClr val="EBF6F1"/>
          </a:solidFill>
          <a:ln w="9525">
            <a:solidFill>
              <a:srgbClr val="EBF6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02352" y="1463040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(RAG chat)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1463040"/>
            <a:ext cx="4144975" cy="566928"/>
          </a:xfrm>
          <a:prstGeom prst="roundRect">
            <a:avLst>
              <a:gd name="adj" fmla="val 16129"/>
            </a:avLst>
          </a:prstGeom>
          <a:solidFill>
            <a:srgbClr val="1A6F50"/>
          </a:solidFill>
          <a:ln w="9525">
            <a:solidFill>
              <a:srgbClr val="1A6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71232" y="1463040"/>
            <a:ext cx="3998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sign-in · claim runner · live trace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86600" y="1746504"/>
            <a:ext cx="411480" cy="914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2395728"/>
            <a:ext cx="7360920" cy="1600200"/>
          </a:xfrm>
          <a:prstGeom prst="roundRect">
            <a:avLst>
              <a:gd name="adj" fmla="val 80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487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AGENTS  ·  LangGraph orchestrator (state machine)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C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2880360"/>
            <a:ext cx="1042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reader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920240" y="3268980"/>
            <a:ext cx="137160" cy="914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057400" y="2880360"/>
            <a:ext cx="11430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C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30552" y="2880360"/>
            <a:ext cx="996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coder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3268980"/>
            <a:ext cx="137160" cy="914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37560" y="2880360"/>
            <a:ext cx="11430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C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10712" y="2880360"/>
            <a:ext cx="996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cost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80560" y="3268980"/>
            <a:ext cx="137160" cy="914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17720" y="288036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C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90872" y="2880360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Denial-risk check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3268980"/>
            <a:ext cx="137160" cy="914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35040" y="288036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9DC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08192" y="28803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Drafts: pre-auth, query, appeal…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7360920" cy="1371600"/>
          </a:xfrm>
          <a:prstGeom prst="roundRect">
            <a:avLst>
              <a:gd name="adj" fmla="val 9333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466344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C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634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· every rupee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14600" y="466344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C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87752" y="46634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cost, denial risk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97680" y="466344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C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70832" y="46634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policy search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080760" y="466344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CD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53912" y="46634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(optional) · prose only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06240" y="3995928"/>
            <a:ext cx="914" cy="228600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206240" y="2029968"/>
            <a:ext cx="914" cy="365760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366760" y="2514600"/>
            <a:ext cx="3276295" cy="868680"/>
          </a:xfrm>
          <a:prstGeom prst="hexagon">
            <a:avLst/>
          </a:prstGeom>
          <a:solidFill>
            <a:srgbClr val="0E3B2C"/>
          </a:solidFill>
          <a:ln w="12700">
            <a:solidFill>
              <a:srgbClr val="0E3B2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66760" y="2514600"/>
            <a:ext cx="3276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909560" y="2944368"/>
            <a:ext cx="457200" cy="914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686800" y="3657600"/>
            <a:ext cx="2636215" cy="868680"/>
          </a:xfrm>
          <a:prstGeom prst="can">
            <a:avLst/>
          </a:prstGeom>
          <a:solidFill>
            <a:srgbClr val="E7ECEA"/>
          </a:solidFill>
          <a:ln w="9525">
            <a:solidFill>
              <a:srgbClr val="A9B8B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86800" y="3767328"/>
            <a:ext cx="2636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exchange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messages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10004908" y="3383280"/>
            <a:ext cx="914" cy="274320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366760" y="4800600"/>
            <a:ext cx="3276295" cy="822960"/>
          </a:xfrm>
          <a:prstGeom prst="roundRect">
            <a:avLst>
              <a:gd name="adj" fmla="val 15556"/>
            </a:avLst>
          </a:prstGeom>
          <a:solidFill>
            <a:srgbClr val="FBEDE8"/>
          </a:solidFill>
          <a:ln w="6350">
            <a:solidFill>
              <a:srgbClr val="FBED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66760" y="4864608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insurer / TPA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458200" y="5175504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· medical review · adjudicator · queries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004908" y="4526280"/>
            <a:ext cx="914" cy="274320"/>
          </a:xfrm>
          <a:prstGeom prst="line">
            <a:avLst/>
          </a:prstGeom>
          <a:noFill/>
          <a:ln w="15875">
            <a:solidFill>
              <a:srgbClr val="8FA79C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548640" y="58704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 in code:  no model arithmetic  ·  every finding cites a source  ·  state changes only through the orchestrator  ·  hospital and insurer never import each other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12 hospital agents and a simulated 4-agent insurer, one job each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645920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71" y="1751259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6276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reader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93852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with page references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07208" y="1463040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71800" y="1645920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139" y="1751259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16276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coder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193852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code with reasoning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65776" y="1463040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30368" y="1645920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707" y="1751259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779008" y="16276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agent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5779008" y="193852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exclusions, by clause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324344" y="1463040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88936" y="1645920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275" y="1751259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37576" y="16276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estimator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8037576" y="193852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and high bill, stay length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2642616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13232" y="2825496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71" y="2930835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61872" y="280720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Pre-auth writer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1261872" y="31181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with justification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2807208" y="2642616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971800" y="2825496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7139" y="2930835"/>
            <a:ext cx="228234" cy="22823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20440" y="280720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checker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3520440" y="31181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risk, reasons, fixes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5065776" y="2642616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230368" y="2825496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5707" y="2930835"/>
            <a:ext cx="228234" cy="22823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779008" y="280720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5779008" y="31181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request as the bill grows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7324344" y="2642616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7488936" y="2825496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4275" y="2930835"/>
            <a:ext cx="228234" cy="22823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037576" y="280720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1350" dirty="0"/>
          </a:p>
        </p:txBody>
      </p:sp>
      <p:sp>
        <p:nvSpPr>
          <p:cNvPr id="42" name="Text 32"/>
          <p:cNvSpPr txBox="1"/>
          <p:nvPr/>
        </p:nvSpPr>
        <p:spPr>
          <a:xfrm>
            <a:off x="8037576" y="31181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claim, deduction preview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548640" y="3822192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713232" y="4005072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571" y="4110411"/>
            <a:ext cx="228234" cy="22823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261872" y="398678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responder</a:t>
            </a:r>
            <a:endParaRPr lang="en-US" sz="1350" dirty="0"/>
          </a:p>
        </p:txBody>
      </p:sp>
      <p:sp>
        <p:nvSpPr>
          <p:cNvPr id="47" name="Text 36"/>
          <p:cNvSpPr txBox="1"/>
          <p:nvPr/>
        </p:nvSpPr>
        <p:spPr>
          <a:xfrm>
            <a:off x="1261872" y="4297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the right document</a:t>
            </a:r>
            <a:endParaRPr lang="en-US" sz="1150" dirty="0"/>
          </a:p>
        </p:txBody>
      </p:sp>
      <p:sp>
        <p:nvSpPr>
          <p:cNvPr id="48" name="Shape 37"/>
          <p:cNvSpPr/>
          <p:nvPr/>
        </p:nvSpPr>
        <p:spPr>
          <a:xfrm>
            <a:off x="2807208" y="3822192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2971800" y="4005072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7139" y="4110411"/>
            <a:ext cx="228234" cy="228234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3520440" y="398678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writer</a:t>
            </a:r>
            <a:endParaRPr lang="en-US" sz="1350" dirty="0"/>
          </a:p>
        </p:txBody>
      </p:sp>
      <p:sp>
        <p:nvSpPr>
          <p:cNvPr id="52" name="Text 40"/>
          <p:cNvSpPr txBox="1"/>
          <p:nvPr/>
        </p:nvSpPr>
        <p:spPr>
          <a:xfrm>
            <a:off x="3520440" y="4297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Clause-cited, evidence-checked</a:t>
            </a:r>
            <a:endParaRPr lang="en-US" sz="1150" dirty="0"/>
          </a:p>
        </p:txBody>
      </p:sp>
      <p:sp>
        <p:nvSpPr>
          <p:cNvPr id="53" name="Shape 41"/>
          <p:cNvSpPr/>
          <p:nvPr/>
        </p:nvSpPr>
        <p:spPr>
          <a:xfrm>
            <a:off x="5065776" y="3822192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5230368" y="4005072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5707" y="4110411"/>
            <a:ext cx="228234" cy="228234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5779008" y="398678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350" dirty="0"/>
          </a:p>
        </p:txBody>
      </p:sp>
      <p:sp>
        <p:nvSpPr>
          <p:cNvPr id="57" name="Text 44"/>
          <p:cNvSpPr txBox="1"/>
          <p:nvPr/>
        </p:nvSpPr>
        <p:spPr>
          <a:xfrm>
            <a:off x="5779008" y="4297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vs recoverable cuts</a:t>
            </a:r>
            <a:endParaRPr lang="en-US" sz="1150" dirty="0"/>
          </a:p>
        </p:txBody>
      </p:sp>
      <p:sp>
        <p:nvSpPr>
          <p:cNvPr id="58" name="Shape 45"/>
          <p:cNvSpPr/>
          <p:nvPr/>
        </p:nvSpPr>
        <p:spPr>
          <a:xfrm>
            <a:off x="7324344" y="3822192"/>
            <a:ext cx="2103120" cy="1024128"/>
          </a:xfrm>
          <a:prstGeom prst="roundRect">
            <a:avLst>
              <a:gd name="adj" fmla="val 12500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59" name="Shape 46"/>
          <p:cNvSpPr/>
          <p:nvPr/>
        </p:nvSpPr>
        <p:spPr>
          <a:xfrm>
            <a:off x="7488936" y="4005072"/>
            <a:ext cx="438912" cy="43891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4275" y="4110411"/>
            <a:ext cx="228234" cy="228234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8037576" y="398678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agent</a:t>
            </a:r>
            <a:endParaRPr lang="en-US" sz="1350" dirty="0"/>
          </a:p>
        </p:txBody>
      </p:sp>
      <p:sp>
        <p:nvSpPr>
          <p:cNvPr id="62" name="Text 48"/>
          <p:cNvSpPr txBox="1"/>
          <p:nvPr/>
        </p:nvSpPr>
        <p:spPr>
          <a:xfrm>
            <a:off x="8037576" y="4297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cost and room note</a:t>
            </a:r>
            <a:endParaRPr lang="en-US" sz="1150" dirty="0"/>
          </a:p>
        </p:txBody>
      </p:sp>
      <p:sp>
        <p:nvSpPr>
          <p:cNvPr id="63" name="Shape 49"/>
          <p:cNvSpPr/>
          <p:nvPr/>
        </p:nvSpPr>
        <p:spPr>
          <a:xfrm>
            <a:off x="9720072" y="1463040"/>
            <a:ext cx="1922983" cy="3383280"/>
          </a:xfrm>
          <a:prstGeom prst="roundRect">
            <a:avLst>
              <a:gd name="adj" fmla="val 6657"/>
            </a:avLst>
          </a:prstGeom>
          <a:solidFill>
            <a:srgbClr val="FBEDE8"/>
          </a:solidFill>
          <a:ln w="6350">
            <a:solidFill>
              <a:srgbClr val="FBEDE8"/>
            </a:solidFill>
            <a:prstDash val="solid"/>
          </a:ln>
        </p:spPr>
      </p:sp>
      <p:sp>
        <p:nvSpPr>
          <p:cNvPr id="64" name="Text 50"/>
          <p:cNvSpPr txBox="1"/>
          <p:nvPr/>
        </p:nvSpPr>
        <p:spPr>
          <a:xfrm>
            <a:off x="9948672" y="1627632"/>
            <a:ext cx="14657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INSURER</a:t>
            </a:r>
            <a:endParaRPr lang="en-US" sz="1100" dirty="0"/>
          </a:p>
        </p:txBody>
      </p:sp>
      <p:sp>
        <p:nvSpPr>
          <p:cNvPr id="65" name="Text 51"/>
          <p:cNvSpPr txBox="1"/>
          <p:nvPr/>
        </p:nvSpPr>
        <p:spPr>
          <a:xfrm>
            <a:off x="9902952" y="1965960"/>
            <a:ext cx="16486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screen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reviewer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writer</a:t>
            </a:r>
            <a:endParaRPr lang="en-US" sz="1250" dirty="0"/>
          </a:p>
        </p:txBody>
      </p:sp>
      <p:sp>
        <p:nvSpPr>
          <p:cNvPr id="66" name="Text 52"/>
          <p:cNvSpPr txBox="1"/>
          <p:nvPr/>
        </p:nvSpPr>
        <p:spPr>
          <a:xfrm>
            <a:off x="9948672" y="3429000"/>
            <a:ext cx="146578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strictness profiles per TPA, so outcomes come from real gaps in the claim, not a script.</a:t>
            </a:r>
            <a:endParaRPr lang="en-US" sz="1200" dirty="0"/>
          </a:p>
        </p:txBody>
      </p:sp>
      <p:sp>
        <p:nvSpPr>
          <p:cNvPr id="67" name="Shape 53"/>
          <p:cNvSpPr/>
          <p:nvPr/>
        </p:nvSpPr>
        <p:spPr>
          <a:xfrm>
            <a:off x="548640" y="5166360"/>
            <a:ext cx="11094415" cy="731520"/>
          </a:xfrm>
          <a:prstGeom prst="roundRect">
            <a:avLst>
              <a:gd name="adj" fmla="val 17500"/>
            </a:avLst>
          </a:prstGeom>
          <a:solidFill>
            <a:srgbClr val="EBF6F1"/>
          </a:solidFill>
          <a:ln w="6350">
            <a:solidFill>
              <a:srgbClr val="EBF6F1"/>
            </a:solidFill>
            <a:prstDash val="solid"/>
          </a:ln>
        </p:spPr>
      </p:sp>
      <p:sp>
        <p:nvSpPr>
          <p:cNvPr id="68" name="Text 54"/>
          <p:cNvSpPr txBox="1"/>
          <p:nvPr/>
        </p:nvSpPr>
        <p:spPr>
          <a:xfrm>
            <a:off x="822960" y="51663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output contract for all agents:  </a:t>
            </a:r>
            <a:pPr indent="0" marL="0">
              <a:buNone/>
            </a:pPr>
            <a:r>
              <a:rPr lang="en-US" sz="13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confidence, findings (each with a source such as "Policy clause 4.2" or "Bill line 3") and the next step. A finding without a source is rejected.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Nothing reaches the insurer or the patient until a person approves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053328" cy="3824478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9525">
            <a:solidFill>
              <a:srgbClr val="E4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:\Users\RUDRA\AppData\Local\Temp\claude\D--SDG-AgentOps-claim-pilot\38ba78ea-dfea-47fe-b5a3-d75b848b66fd\scratchpad\deck\shot-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17904"/>
            <a:ext cx="5943600" cy="37147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481328"/>
            <a:ext cx="457200" cy="45720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591056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98080" y="14630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 or hold back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498080" y="17556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pre-auth, query reply, enhancement, discharge claim and appeal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903720" y="2212848"/>
            <a:ext cx="457200" cy="45720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232257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0" y="21945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bound to the draft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7498080" y="24871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draft changes after review, the officer is asked again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903720" y="2944368"/>
            <a:ext cx="457200" cy="45720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3054096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98080" y="29260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see reviewed updates only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7498080" y="32186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questions from patients go to the officer's queue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903720" y="3675888"/>
            <a:ext cx="457200" cy="45720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3785616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98080" y="36576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escalate, never guess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7498080" y="39502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or two failures send the claim to a person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903720" y="4407408"/>
            <a:ext cx="457200" cy="45720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448" y="4517136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498080" y="43891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7498080" y="46817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and human action, with inputs and outputs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903720" y="5138928"/>
            <a:ext cx="457200" cy="457200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5248656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498080" y="5120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before any model call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7498080" y="54132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phone and ID numbers are swapped for tokens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Every rupee comes from a rules engine, never from a language model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51460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bill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₹2,40,000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Consumables (gloves, admission kit)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Annexure II · non-payable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₹7,000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deluxe room, 4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· room capped at ₹3,000/day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₹8,000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Surgeon and doctor fees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· paid at 60% (proportionate)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₹24,000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theatre charges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· paid at 60% (proportionate)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₹12,000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Nursing charges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8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· paid at 60% (proportionate)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₹3,200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Insurer pays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C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C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₹1,85,800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C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pays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₹54,200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508760"/>
            <a:ext cx="3779215" cy="1965960"/>
          </a:xfrm>
          <a:prstGeom prst="roundRect">
            <a:avLst>
              <a:gd name="adj" fmla="val 6512"/>
            </a:avLst>
          </a:prstGeom>
          <a:solidFill>
            <a:srgbClr val="0E3B2C"/>
          </a:solidFill>
          <a:ln w="6350">
            <a:solidFill>
              <a:srgbClr val="0E3B2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₹1,85,800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423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2E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simulated insurer paid at settlement: exactly the engine's prediction at discharge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703320"/>
            <a:ext cx="37792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Room-rent caps, proportionate deduction, sub-limits, co-pay, waiting periods and non-payables are coded rules, each linked to its clause.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scan agent code so no amount is ever computed outside the engine.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claim under another policy config pays ₹1,57,500, with no code change.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At admission, patients see what each room choice would cost them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876288" cy="4338828"/>
          </a:xfrm>
          <a:prstGeom prst="roundRect">
            <a:avLst>
              <a:gd name="adj" fmla="val 2107"/>
            </a:avLst>
          </a:prstGeom>
          <a:solidFill>
            <a:srgbClr val="FFFFFF"/>
          </a:solidFill>
          <a:ln w="9525">
            <a:solidFill>
              <a:srgbClr val="E4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:\Users\RUDRA\AppData\Local\Temp\claude\D--SDG-AgentOps-claim-pilot\38ba78ea-dfea-47fe-b5a3-d75b848b66fd\scratchpad\deck\shot-estim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17904"/>
            <a:ext cx="6766560" cy="42291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advisor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0116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the same stay in every room on the hospital's tariff, using the patient's own policy.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room cap and proportionate deduction in plain words, quoting clause 4.2.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Ramesh's best choice: a single standard room saves him ₹47,200.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patient only after the billing officer publishes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An assistant that cites its sources and knows when to hand off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585935"/>
            <a:ext cx="266273" cy="26627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444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7647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(MiniLM embeddings) over the claim record, agent findings, policy clauses and a ChromaDB index of policy wordings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42032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2664927"/>
            <a:ext cx="266273" cy="26627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5237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284378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pieces become numbered sources [S1], [S2]; each chip opens the exact text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621024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3743919"/>
            <a:ext cx="266273" cy="2662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6027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392277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unless every citation exists, every number appears in a source, and nothing promises an outcome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700016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4822911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234440" y="50017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was my claim cut?" goes to the billing officer; their reply returns to the patient's chat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934456" y="1463040"/>
            <a:ext cx="5733288" cy="3624453"/>
          </a:xfrm>
          <a:prstGeom prst="roundRect">
            <a:avLst>
              <a:gd name="adj" fmla="val 2523"/>
            </a:avLst>
          </a:prstGeom>
          <a:solidFill>
            <a:srgbClr val="FFFFFF"/>
          </a:solidFill>
          <a:ln w="9525">
            <a:solidFill>
              <a:srgbClr val="E4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C:\Users\RUDRA\AppData\Local\Temp\claude\D--SDG-AgentOps-claim-pilot\38ba78ea-dfea-47fe-b5a3-d75b848b66fd\scratchpad\deck\shot-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517904"/>
            <a:ext cx="5623560" cy="351472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copilot is read-only: it cannot send, approve or change a claim. Patients only ever see figures an officer has published.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Patients follow their claim through updates the hospital has reviewed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876288" cy="4338828"/>
          </a:xfrm>
          <a:prstGeom prst="roundRect">
            <a:avLst>
              <a:gd name="adj" fmla="val 2107"/>
            </a:avLst>
          </a:prstGeom>
          <a:solidFill>
            <a:srgbClr val="FFFFFF"/>
          </a:solidFill>
          <a:ln w="9525">
            <a:solidFill>
              <a:srgbClr val="E4E8E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:\Users\RUDRA\AppData\Local\Temp\claude\D--SDG-AgentOps-claim-pilot\38ba78ea-dfea-47fe-b5a3-d75b848b66fd\scratchpad\deck\shot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17904"/>
            <a:ext cx="6766560" cy="4229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508760"/>
            <a:ext cx="475488" cy="475488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517" y="1622877"/>
            <a:ext cx="247254" cy="2472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12480" y="1490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updates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181965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estimate and next steps, published by the officer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772400" y="2560320"/>
            <a:ext cx="475488" cy="475488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517" y="2674437"/>
            <a:ext cx="247254" cy="24725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0" y="25420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documents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412480" y="28712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go to the officer first, never straight to the insurer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772400" y="3611880"/>
            <a:ext cx="475488" cy="475488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517" y="3725997"/>
            <a:ext cx="247254" cy="247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12480" y="35935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412480" y="392277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their own policy, with sources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772400" y="4663440"/>
            <a:ext cx="475488" cy="475488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517" y="4777557"/>
            <a:ext cx="247254" cy="24725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412480" y="4645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claims only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412480" y="497433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cannot reach another claim or any staff tool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Every planted problem caught before sending, on 55 held-out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3246120"/>
          </a:xfrm>
          <a:prstGeom prst="roundRect">
            <a:avLst>
              <a:gd name="adj" fmla="val 3944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3429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343400" y="1463040"/>
            <a:ext cx="3611880" cy="3246120"/>
          </a:xfrm>
          <a:prstGeom prst="roundRect">
            <a:avLst>
              <a:gd name="adj" fmla="val 3944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graphicFrame>
        <p:nvGraphicFramePr>
          <p:cNvPr id="6" name="Chart 1" descr=""/>
          <p:cNvGraphicFramePr/>
          <p:nvPr/>
        </p:nvGraphicFramePr>
        <p:xfrm>
          <a:off x="4434840" y="1554480"/>
          <a:ext cx="3429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29600" y="14630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18928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denial-risk model ROC-AUC on a later, held-out time split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22860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₹20,690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by evidence-checked appeals against a held-out insurer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31089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 days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229600" y="3538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of the length-of-stay estimate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39319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4361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including the ₹1,85,800 reference claim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937760"/>
            <a:ext cx="11094415" cy="868680"/>
          </a:xfrm>
          <a:prstGeom prst="roundRect">
            <a:avLst>
              <a:gd name="adj" fmla="val 14737"/>
            </a:avLst>
          </a:prstGeom>
          <a:solidFill>
            <a:srgbClr val="EBF6F1"/>
          </a:solidFill>
          <a:ln w="6350">
            <a:solidFill>
              <a:srgbClr val="EBF6F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49377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frozen cases, documents and approval gate in all three modes; labels never visible to the hospital side. The rules checklist matches ClaimPilot on catching problems; ClaimPilot adds the cost and risk models, evidence-checked appeals, room advice and reconciliation.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measurements on synthetic data against a simulated insurer (reports/BENCHMARK.md, models/metrics.json). They are not evidence about real hospitals yet.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What is new 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2057400"/>
          </a:xfrm>
          <a:prstGeom prst="roundRect">
            <a:avLst>
              <a:gd name="adj" fmla="val 6222"/>
            </a:avLst>
          </a:prstGeom>
          <a:solidFill>
            <a:srgbClr val="0E3B2C"/>
          </a:solidFill>
          <a:ln w="6350">
            <a:solidFill>
              <a:srgbClr val="0E3B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12064" cy="512064"/>
          </a:xfrm>
          <a:prstGeom prst="ellipse">
            <a:avLst/>
          </a:prstGeom>
          <a:solidFill>
            <a:srgbClr val="2A8463"/>
          </a:solidFill>
          <a:ln w="12700">
            <a:solidFill>
              <a:srgbClr val="2A846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860255"/>
            <a:ext cx="266273" cy="2662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advice priced by the engine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61488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2E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see the cost of each room at admission, with the clause that causes 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2057400"/>
          </a:xfrm>
          <a:prstGeom prst="roundRect">
            <a:avLst>
              <a:gd name="adj" fmla="val 6222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73736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434" y="1860255"/>
            <a:ext cx="266273" cy="2662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3774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 appeals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761488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appeals are held back instead of sent; the appeal never invents a justification.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27797" y="1463040"/>
            <a:ext cx="3515258" cy="2057400"/>
          </a:xfrm>
          <a:prstGeom prst="roundRect">
            <a:avLst>
              <a:gd name="adj" fmla="val 6222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73736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012" y="1860255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3774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 recheck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761488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missing record, the risk check reruns, and a new draft version needs fresh approval.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515258" cy="2057400"/>
          </a:xfrm>
          <a:prstGeom prst="roundRect">
            <a:avLst>
              <a:gd name="adj" fmla="val 6222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06908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4191975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709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organisations, one message log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93208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and insurer agents share no memory or code, like a real claims exchange.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338218" y="3794760"/>
            <a:ext cx="3515258" cy="2057400"/>
          </a:xfrm>
          <a:prstGeom prst="roundRect">
            <a:avLst>
              <a:gd name="adj" fmla="val 6222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12538" y="406908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434" y="4191975"/>
            <a:ext cx="266273" cy="26627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2538" y="4709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with a verifier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5093208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that cite a missing source, state an unbacked number or promise an outcome are never shown.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127797" y="3794760"/>
            <a:ext cx="3515258" cy="2057400"/>
          </a:xfrm>
          <a:prstGeom prst="roundRect">
            <a:avLst>
              <a:gd name="adj" fmla="val 6222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402117" y="4069080"/>
            <a:ext cx="512064" cy="512064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5012" y="4191975"/>
            <a:ext cx="266273" cy="26627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02117" y="4709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baseline</a:t>
            </a:r>
            <a:endParaRPr lang="en-US" sz="155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5093208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three-mode benchmark shows exactly which layer adds what, including where it adds nothing.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How ClaimPilot answers each judging criterion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42655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6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are versioned configs: the same workflow pays ₹1,85,800 under one and ₹1,57,500 under another, no code change. Billing CSV/JSON import. Insurer habits switch by setting.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6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&amp; responsibility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gate with hash-bound approvals. Money only from the engine, enforced by tests. Cited findings, masking before model calls, append-only audit log, safe template fallback.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6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/ business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missing records and policy breaches before sending (47/47 vs 0/47), avoids query rounds, recovers money through appeals, tells patients their cost upfront.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6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readiness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One-command Docker, setup scripts for Windows/macOS/Linux, readiness endpoint, resume after a crash, 287 tests, a demo check that runs twice from a clean state.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6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Engine-priced room advisor, evidence-checked appeals, fix-and-recheck drafts, a two-sided simulation, and a verified RAG assistant with human hand-off.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Built on open, well-understood tools, so it runs anywhere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932688"/>
          </a:xfrm>
          <a:prstGeom prst="roundRect">
            <a:avLst>
              <a:gd name="adj" fmla="val 13725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64208"/>
            <a:ext cx="530352" cy="53035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524" y="1791492"/>
            <a:ext cx="275783" cy="2757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47672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LangGraph · Pydantic v2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33008" y="1463040"/>
            <a:ext cx="5410048" cy="932688"/>
          </a:xfrm>
          <a:prstGeom prst="roundRect">
            <a:avLst>
              <a:gd name="adj" fmla="val 13725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664208"/>
            <a:ext cx="530352" cy="53035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892" y="1791492"/>
            <a:ext cx="275783" cy="27578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3128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193128" y="1947672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rules engine · versioned policy configs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578608"/>
            <a:ext cx="5410048" cy="932688"/>
          </a:xfrm>
          <a:prstGeom prst="roundRect">
            <a:avLst>
              <a:gd name="adj" fmla="val 13725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2779776"/>
            <a:ext cx="530352" cy="53035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2907060"/>
            <a:ext cx="275783" cy="27578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06324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quantile cost model · denial classifier · SHAP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33008" y="2578608"/>
            <a:ext cx="5410048" cy="932688"/>
          </a:xfrm>
          <a:prstGeom prst="roundRect">
            <a:avLst>
              <a:gd name="adj" fmla="val 13725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61608" y="2779776"/>
            <a:ext cx="530352" cy="53035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892" y="2907060"/>
            <a:ext cx="275783" cy="27578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93128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193128" y="306324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all-MiniLM-L6-v2 embeddings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694176"/>
            <a:ext cx="5410048" cy="932688"/>
          </a:xfrm>
          <a:prstGeom prst="roundRect">
            <a:avLst>
              <a:gd name="adj" fmla="val 13725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3895344"/>
            <a:ext cx="530352" cy="53035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24" y="4022628"/>
            <a:ext cx="275783" cy="27578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4178808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WebSocket live trace · SQLite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233008" y="3694176"/>
            <a:ext cx="5410048" cy="932688"/>
          </a:xfrm>
          <a:prstGeom prst="roundRect">
            <a:avLst>
              <a:gd name="adj" fmla="val 13725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61608" y="3895344"/>
            <a:ext cx="530352" cy="53035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892" y="4022628"/>
            <a:ext cx="275783" cy="27578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93128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193128" y="4178808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Tailwind CSS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548640" y="4809744"/>
            <a:ext cx="5410048" cy="932688"/>
          </a:xfrm>
          <a:prstGeom prst="roundRect">
            <a:avLst>
              <a:gd name="adj" fmla="val 13725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77240" y="5010912"/>
            <a:ext cx="530352" cy="53035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524" y="5138196"/>
            <a:ext cx="275783" cy="275783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508760" y="4974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1508760" y="5294376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Ollama (local) or Gemini, for prose only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6233008" y="4809744"/>
            <a:ext cx="5410048" cy="932688"/>
          </a:xfrm>
          <a:prstGeom prst="roundRect">
            <a:avLst>
              <a:gd name="adj" fmla="val 13725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461608" y="5010912"/>
            <a:ext cx="530352" cy="530352"/>
          </a:xfrm>
          <a:prstGeom prst="ellipse">
            <a:avLst/>
          </a:prstGeom>
          <a:solidFill>
            <a:srgbClr val="EBF6F1"/>
          </a:solidFill>
          <a:ln w="12700">
            <a:solidFill>
              <a:srgbClr val="EBF6F1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892" y="5138196"/>
            <a:ext cx="275783" cy="275783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193128" y="4974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7193128" y="5294376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nginx · setup scripts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What runs today, and what is simulated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343400"/>
          </a:xfrm>
          <a:prstGeom prst="roundRect">
            <a:avLst>
              <a:gd name="adj" fmla="val 2947"/>
            </a:avLst>
          </a:prstGeom>
          <a:solidFill>
            <a:srgbClr val="EBF6F1"/>
          </a:solidFill>
          <a:ln w="6350">
            <a:solidFill>
              <a:srgbClr val="EBF6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 to 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claim lifecycle with every human gate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engine, cost and denial-risk models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search over four public policy wordings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desk, patient portal, analytics dashboard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assistant for officers and patients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Benchmark, model report, 287 tests, Docker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343400"/>
          </a:xfrm>
          <a:prstGeom prst="roundRect">
            <a:avLst>
              <a:gd name="adj" fmla="val 2947"/>
            </a:avLst>
          </a:prstGeom>
          <a:solidFill>
            <a:srgbClr val="FBEDE8"/>
          </a:solidFill>
          <a:ln w="6350">
            <a:solidFill>
              <a:srgbClr val="FBED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8768" y="16459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A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or synthetic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14884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bills and medical records are generated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insurer/TPA is a simulation with hidden strictness profiles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OCR yet: scanned pages go to a person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sign-in uses fixed accounts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numbers are synthetic, not field results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01C"/>
                </a:solidFill>
              </a:rPr>
              <a:t>From a working MVP to a hospital pilot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434840"/>
          </a:xfrm>
          <a:prstGeom prst="roundRect">
            <a:avLst>
              <a:gd name="adj" fmla="val 3642"/>
            </a:avLst>
          </a:prstGeom>
          <a:solidFill>
            <a:srgbClr val="1A6F50"/>
          </a:solidFill>
          <a:ln w="6350">
            <a:solidFill>
              <a:srgbClr val="1A6F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MONTHS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93392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87517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B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records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B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prose, reviewed by officers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B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notes in Hindi and Kannada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B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identity and hosting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434840"/>
          </a:xfrm>
          <a:prstGeom prst="roundRect">
            <a:avLst>
              <a:gd name="adj" fmla="val 3642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58258" y="16916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9 MONTHS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58258" y="1993392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2697480"/>
            <a:ext cx="287517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as FHIR resources for India's National Health Claims Exchange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hospital billing and HIS systems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PM-JAY mode: package rates instead of itemised bills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434840"/>
          </a:xfrm>
          <a:prstGeom prst="roundRect">
            <a:avLst>
              <a:gd name="adj" fmla="val 3642"/>
            </a:avLst>
          </a:prstGeom>
          <a:solidFill>
            <a:srgbClr val="F4F6F5"/>
          </a:solidFill>
          <a:ln w="6350">
            <a:solidFill>
              <a:srgbClr val="F4F6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47837" y="16916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MONTHS +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447837" y="1993392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47837" y="2697480"/>
            <a:ext cx="287517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each TPA's habits from its queries and denials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models on a hospital's own history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44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monitoring on real outcomes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2E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ClaimPilot checks every cashless claim before it is sent, prices every rupee from the policy, and keeps a person in charge of every message.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Solanki  ·  Janhavi Bhattad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github.com/rudra995/claim-pilot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188720"/>
            <a:ext cx="4693615" cy="4480560"/>
          </a:xfrm>
          <a:prstGeom prst="roundRect">
            <a:avLst>
              <a:gd name="adj" fmla="val 2857"/>
            </a:avLst>
          </a:prstGeom>
          <a:solidFill>
            <a:srgbClr val="164D3A"/>
          </a:solidFill>
          <a:ln w="6350">
            <a:solidFill>
              <a:srgbClr val="164D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6948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1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localhost:8080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1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OFFICER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0906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officer@claimpilot.demo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OfficerDemo!2026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1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42336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ramesh@claimpilot.demo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PatientDemo!2026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5120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imPilot">
  <a:themeElements>
    <a:clrScheme name="ClaimPilot">
      <a:dk1>
        <a:srgbClr val="14201C"/>
      </a:dk1>
      <a:lt1>
        <a:srgbClr val="FFFFFF"/>
      </a:lt1>
      <a:dk2>
        <a:srgbClr val="0E3B2C"/>
      </a:dk2>
      <a:lt2>
        <a:srgbClr val="F2F4F3"/>
      </a:lt2>
      <a:accent1>
        <a:srgbClr val="1A6F50"/>
      </a:accent1>
      <a:accent2>
        <a:srgbClr val="71BD9C"/>
      </a:accent2>
      <a:accent3>
        <a:srgbClr val="E07A5F"/>
      </a:accent3>
      <a:accent4>
        <a:srgbClr val="BFE0CF"/>
      </a:accent4>
      <a:accent5>
        <a:srgbClr val="6B7873"/>
      </a:accent5>
      <a:accent6>
        <a:srgbClr val="114735"/>
      </a:accent6>
      <a:hlink>
        <a:srgbClr val="1A6F50"/>
      </a:hlink>
      <a:folHlink>
        <a:srgbClr val="114735"/>
      </a:folHlink>
    </a:clrScheme>
    <a:fontScheme name="ClaimPil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ClaimPilot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ClaimPilot</dc:title>
  <dc:subject>PptxGenJS Presentation</dc:subject>
  <dc:creator>Rudra Solanki, Janhavi Bhattad</dc:creator>
  <cp:lastModifiedBy>Rudra Solanki, Janhavi Bhattad</cp:lastModifiedBy>
  <cp:revision>1</cp:revision>
  <dcterms:created xsi:type="dcterms:W3CDTF">2026-10-24T12:03:15Z</dcterms:created>
  <dcterms:modified xsi:type="dcterms:W3CDTF">2026-10-24T12:03:15Z</dcterms:modified>
</cp:coreProperties>
</file>